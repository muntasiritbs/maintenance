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152B3C"/>
          </a:solidFill>
          <a:ln w="12700">
            <a:solidFill>
              <a:srgbClr val="152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Itelligence Business Solutions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7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DMS Operating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Technician Mobile App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PDI App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Process Screen Flows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Execution → Completion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1463040" cy="237744"/>
          </a:xfrm>
          <a:prstGeom prst="rect">
            <a:avLst>
              <a:gd name="adj" fmla="val 19231"/>
            </a:avLst>
          </a:prstGeom>
          <a:solidFill>
            <a:srgbClr val="1A3448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39242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Screen Flows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03120" y="3383280"/>
            <a:ext cx="1463040" cy="237744"/>
          </a:xfrm>
          <a:prstGeom prst="rect">
            <a:avLst>
              <a:gd name="adj" fmla="val 19231"/>
            </a:avLst>
          </a:prstGeom>
          <a:solidFill>
            <a:srgbClr val="1A3448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339242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Integrated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03320" y="3383280"/>
            <a:ext cx="1463040" cy="237744"/>
          </a:xfrm>
          <a:prstGeom prst="rect">
            <a:avLst>
              <a:gd name="adj" fmla="val 19231"/>
            </a:avLst>
          </a:prstGeom>
          <a:solidFill>
            <a:srgbClr val="1A3448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339242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SuiteCloud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237744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58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Equipment Dealer — JCB DMS Proposal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75120" y="640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7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Flows Covered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2084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7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App — 12 Screens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720840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20840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 &amp; Assignment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20840" y="1865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Parts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20840" y="2167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Timer &amp; Photos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2084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&amp; Closure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20840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1A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720840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7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App — 10 Screens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20840" y="3374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Assignment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720840" y="3675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Checklists ×3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2084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Item &amp; Photo Capture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20840" y="4279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&amp; PDF Generation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Flow Overview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App  +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22 total screen flows across both apps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4114800" cy="27432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235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TECHNICIAN MOBILE APP  —  12 SCREENS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618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22960" y="1261872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261872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554480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55448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" y="1554480"/>
            <a:ext cx="3566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15544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847088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4708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22960" y="1847088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1847088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139696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13969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22960" y="2139696"/>
            <a:ext cx="3566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2139696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432304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4323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2960" y="2432304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2432304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2724912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72491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2960" y="2724912"/>
            <a:ext cx="3566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2724912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Fault Entry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017520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01752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T-07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22960" y="3017520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" y="301752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Request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310128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31012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T-08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22960" y="3310128"/>
            <a:ext cx="3566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3310128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Timer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602736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60273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T-09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22960" y="3602736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3602736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3895344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89534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T-10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22960" y="3895344"/>
            <a:ext cx="3566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7824" y="3895344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Signature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4187952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18795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T-11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22960" y="4187952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7824" y="4187952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Closure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4480560"/>
            <a:ext cx="475488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4805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T-12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22960" y="4480560"/>
            <a:ext cx="3566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7824" y="448056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Confirmation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45152" y="914400"/>
            <a:ext cx="36576" cy="3456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914400"/>
            <a:ext cx="4069080" cy="274320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9235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APP  —  10 SCREENS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54880" y="1261872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12618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P-01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257800" y="1261872"/>
            <a:ext cx="35204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12664" y="1261872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Unit Scan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54880" y="1554480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0" y="155448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P-02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257800" y="1554480"/>
            <a:ext cx="352044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12664" y="1554480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Assignment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54880" y="1847088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184708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P-03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257800" y="1847088"/>
            <a:ext cx="35204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12664" y="1847088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Checklist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54880" y="2139696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54880" y="213969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P-04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257800" y="2139696"/>
            <a:ext cx="352044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12664" y="2139696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 Checklist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54880" y="2432304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54880" y="24323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P-05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5257800" y="2432304"/>
            <a:ext cx="35204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12664" y="2432304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Checklist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754880" y="2724912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0" y="272491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257800" y="2724912"/>
            <a:ext cx="352044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12664" y="2724912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Item Detail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754880" y="3017520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54880" y="301752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P-07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257800" y="3017520"/>
            <a:ext cx="35204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12664" y="3017520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754880" y="3310128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331012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P-08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5257800" y="3310128"/>
            <a:ext cx="352044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12664" y="3310128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Sign-Off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754880" y="3602736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54880" y="360273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P-09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257800" y="3602736"/>
            <a:ext cx="35204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312664" y="3602736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Delivery Screen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754880" y="3895344"/>
            <a:ext cx="475488" cy="219456"/>
          </a:xfrm>
          <a:prstGeom prst="rect">
            <a:avLst>
              <a:gd name="adj" fmla="val 16667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54880" y="389534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P-10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5257800" y="3895344"/>
            <a:ext cx="352044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312664" y="3895344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Complete / PDF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C36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Technician Mobile 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Jobs · Diagnosis · Parts · Closure  —  12 full process screens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164592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T-01 · Login &amp; Authentication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DMS Technician App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502920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54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JCB  DMS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" y="2103120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1214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 ·  TECH-042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7472" y="2395728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4140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 ·  ●●●●●●●●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7472" y="2688336"/>
            <a:ext cx="2423160" cy="23774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70662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 Workshop  ▾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3017520"/>
            <a:ext cx="2423160" cy="292608"/>
          </a:xfrm>
          <a:prstGeom prst="rect">
            <a:avLst>
              <a:gd name="adj" fmla="val 18750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0175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338328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Biometric Login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7472" y="3630168"/>
            <a:ext cx="2423160" cy="201168"/>
          </a:xfrm>
          <a:prstGeom prst="rect">
            <a:avLst/>
          </a:prstGeom>
          <a:solidFill>
            <a:srgbClr val="EA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64845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Connected to NetSuite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NetSuite TBA Authentication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via RESTlet — employee credentials verified against NS Employee record. No plain-text passwords stored on device.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Role-Specific Login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Role: Field Technician. Login resolves Work Centre, Branch (Main Workshop), and linked Technician record (TECH-042 — K. Mensah).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/ Biometric Option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supports fingerprint or PIN unlock on subsequent logins. Session token cached for 8-hour shift with auto-refresh.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&amp; Shift Selection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selects active Branch and Shift on first login. Populated from NS Location list and Shift custom record.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Mode Indicator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checks NetSuite REST API connectivity. If offline, caches job list from last sync — read-only until reconnected.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T-02 · Home 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 ·  K. Mensah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5087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morning, K. Mensah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" y="169164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15 Apr  ·  Main Workshop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47472" y="1892808"/>
            <a:ext cx="11932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920240"/>
            <a:ext cx="11201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2139696"/>
            <a:ext cx="11201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Today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577340" y="1892808"/>
            <a:ext cx="11932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3916" y="1920240"/>
            <a:ext cx="11201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13916" y="2139696"/>
            <a:ext cx="11201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47472" y="2368296"/>
            <a:ext cx="11932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395728"/>
            <a:ext cx="11201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" y="2615184"/>
            <a:ext cx="11201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Pending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577340" y="2368296"/>
            <a:ext cx="1193292" cy="438912"/>
          </a:xfrm>
          <a:prstGeom prst="rect">
            <a:avLst/>
          </a:prstGeom>
          <a:solidFill>
            <a:srgbClr val="FDEE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3916" y="2395728"/>
            <a:ext cx="11201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13916" y="2615184"/>
            <a:ext cx="11201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47472" y="2880360"/>
            <a:ext cx="2423160" cy="219456"/>
          </a:xfrm>
          <a:prstGeom prst="rect">
            <a:avLst/>
          </a:prstGeom>
          <a:solidFill>
            <a:srgbClr val="FFF3E0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898648"/>
            <a:ext cx="2350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Priority: WO-2024-0891  Al Noor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47472" y="3172968"/>
            <a:ext cx="1193292" cy="30175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172968"/>
            <a:ext cx="11932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List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77340" y="3172968"/>
            <a:ext cx="1193292" cy="30175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7340" y="3172968"/>
            <a:ext cx="11932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3520440"/>
            <a:ext cx="1193292" cy="30175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520440"/>
            <a:ext cx="11932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577340" y="3520440"/>
            <a:ext cx="1193292" cy="30175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77340" y="3520440"/>
            <a:ext cx="11932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7472" y="390448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sync: 9:38 AM  ·  0 pending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Technician KPI Cards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NS Saved Search on Employee + Work Order records. Cards show: Jobs Today, Hours Logged, Parts Pending, Open WOs. Live refresh every 5 min.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Timer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Shift record from NS custom record "Tech Shift". Displays shift start time, elapsed duration, break deductions from Time Entry records.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Job Alert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SuiteFlow workflow flags WOs with Urgency = High. Pushed to mobile via RESTlet poll — displayed as orange alert banner.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Nav Tiles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Deep-links to: Job List, Parts Counter, Camera, Timesheets. Each tile triggers a REST GET to NS for fresh data before rendering.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Status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Sync timestamp from device local store. Offline queue count shown (pending uploads). Tap to force full sync with NetSuite REST API.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T-03 · Job List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Jobs  ·  Today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527048"/>
            <a:ext cx="2313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jobs...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" y="1783080"/>
            <a:ext cx="2423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783080"/>
            <a:ext cx="50292" cy="658368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1819656"/>
            <a:ext cx="2313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WO-2024-0891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9768" y="1984248"/>
            <a:ext cx="2313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JCB 3CX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29768" y="2130552"/>
            <a:ext cx="2313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Noor Const.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29768" y="2276856"/>
            <a:ext cx="685800" cy="137160"/>
          </a:xfrm>
          <a:prstGeom prst="rect">
            <a:avLst>
              <a:gd name="adj" fmla="val 2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276856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347472" y="2496312"/>
            <a:ext cx="2423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496312"/>
            <a:ext cx="50292" cy="658368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532888"/>
            <a:ext cx="2313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WO-2024-0887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29768" y="2697480"/>
            <a:ext cx="2313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JCB 540-170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29768" y="2843784"/>
            <a:ext cx="2313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Build Co.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29768" y="2990088"/>
            <a:ext cx="685800" cy="137160"/>
          </a:xfrm>
          <a:prstGeom prst="rect">
            <a:avLst>
              <a:gd name="adj" fmla="val 26667"/>
            </a:avLst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990088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Queue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347472" y="3209544"/>
            <a:ext cx="2423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209544"/>
            <a:ext cx="50292" cy="658368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246120"/>
            <a:ext cx="2313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WO-2024-0882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29768" y="3410712"/>
            <a:ext cx="2313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JCB 4CX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29768" y="3557016"/>
            <a:ext cx="2313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Plant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29768" y="3703320"/>
            <a:ext cx="685800" cy="137160"/>
          </a:xfrm>
          <a:prstGeom prst="rect">
            <a:avLst>
              <a:gd name="adj" fmla="val 26667"/>
            </a:avLst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703320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Order REST Query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RESTlet GET /api/v1/workorders?tech=TECH-042&amp;date=today returns JSON array of WOs from NS. Sorted by Urgency then Scheduled Time.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Colour Coding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pulled from WO Status field: In Queue (grey), In Progress (teal), On Hold (amber), Completed (green). Mapped from NS custom WO status list.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&amp; Search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filter on cached job list. Search matches WO#, Customer Name, Machine Serial. Refresh icon forces fresh REST call.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Actions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left: mark On Hold + prompt for reason saved to WO Notes field. Swipe right: navigate to Job Details. Gesture triggers NS record update via RESTlet PUT.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&amp; Customer Tags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Machine Model (JCB 3CX), Serial (JCB3CX00181234), Customer (Al Noor Construction LLC) — from linked Asset and Customer records.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T-04 · Job Details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C6E79"/>
          </a:solidFill>
          <a:ln w="12700">
            <a:solidFill>
              <a:srgbClr val="1C6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C6E79"/>
          </a:solidFill>
          <a:ln w="12700">
            <a:solidFill>
              <a:srgbClr val="1C6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WO-2024-0891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53035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53619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WO-2024-0891  ·  Warranty Repair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3192" y="1700784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Al Noor Construction LLC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93192" y="1847088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 Workshop  ·  Priority: HIGH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47472" y="2093976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112264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JCB 3CX Backhoe  ·  SN: JCB3CX00181234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93192" y="2258568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 2,341h  ·  Last PM: 12 Feb 2026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472" y="253288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47472" y="2679192"/>
            <a:ext cx="2423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697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arm slow &amp; jerky on lift cycle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47472" y="304495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/ Labour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93192" y="3191256"/>
            <a:ext cx="2331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O-Ring Set JCB 813/00283  ·  2 ea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93192" y="3337560"/>
            <a:ext cx="2331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Fluid 5L JCB-FLT-5L  ·  1 ea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93192" y="3483864"/>
            <a:ext cx="2331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Labour: Hydraulic System Check  ·  2.5h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47472" y="3685032"/>
            <a:ext cx="2423160" cy="256032"/>
          </a:xfrm>
          <a:prstGeom prst="rect">
            <a:avLst>
              <a:gd name="adj" fmla="val 17857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85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IN  →  Start Job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Order Header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from NS Work Order record: WO #, Type (Warranty / Repair / PM), Priority, Customer, Asset, Branch. All fields read from NS custom WO form.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/ Machine Card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NS Asset record for JCB 3CX (SN JCB3CX00181234). Shows Hours (2,341h), Last PM date, open Warranty Claim if applicable.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Description &amp; Complaint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 field (multi-line text) from WO. Technician reads verbatim. Below: Diagnosis box (editable) saved to NS on change.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Parts &amp; Labour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Sublist of pre-approved parts from WO Parts Estimate. Each line: Part#, Description, Qty Allocated. Labour lines: Task, Estimated Hours.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Row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buttons: Clock In (creates NS Time Entry), Request Parts (opens Parts Request flow), View History (last 5 WOs for this asset from NS saved search).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T-05 · Clock 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In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56032"/>
          </a:xfrm>
          <a:prstGeom prst="rect">
            <a:avLst/>
          </a:prstGeom>
          <a:solidFill>
            <a:srgbClr val="EA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Job Now IN PROGRESS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819656"/>
            <a:ext cx="2423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3794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00:23:14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2203704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Time  ·  Est. 2.5h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47472" y="242316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" y="2587752"/>
            <a:ext cx="1193292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587752"/>
            <a:ext cx="11932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577340" y="2587752"/>
            <a:ext cx="1193292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7340" y="2587752"/>
            <a:ext cx="11932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Chargeable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7472" y="2843784"/>
            <a:ext cx="1193292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843784"/>
            <a:ext cx="11932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577340" y="2843784"/>
            <a:ext cx="1193292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7340" y="2843784"/>
            <a:ext cx="11932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47472" y="3136392"/>
            <a:ext cx="2423160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154680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25.2048°N, 55.2708°E  ·  In Zone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47472" y="3392424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4290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clock-in note...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Time Entry Creation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button calls RESTlet POST /api/v1/timeentry. Creates NS Time Entry record linked to WO, Employee (TECH-042), Date, Start Time. Type = Direct Labour.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Location Capture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GPS coordinates captured at clock-in. Stored on Time Entry as custom fields Lat/Lng. Validates technician is within geofence radius of Workshop or job site.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 Status Auto-Update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SuiteFlow workflow triggered on Time Entry create: updates WO Status from "Assigned" to "In Progress". Sends email notification to Service Advisor.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Type Classification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confirms Job Type: Warranty / Chargeable / Internal / PM. Drives billing logic in NS — Warranty links to Warranty Claim record, Chargeable creates draft Invoice.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Estimated vs. Actual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hours from WO displayed. Running actual timer shown on screen. NS Time Entry updated on Clock Out with actual duration and notes.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T-06 · Diagnosis &amp; Fault Entry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Diagnosis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50876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Category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47472" y="1664208"/>
            <a:ext cx="587502" cy="219456"/>
          </a:xfrm>
          <a:prstGeom prst="rect">
            <a:avLst>
              <a:gd name="adj" fmla="val 1666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664208"/>
            <a:ext cx="5875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53262" y="1664208"/>
            <a:ext cx="587502" cy="219456"/>
          </a:xfrm>
          <a:prstGeom prst="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262" y="1664208"/>
            <a:ext cx="5875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559052" y="1664208"/>
            <a:ext cx="587502" cy="219456"/>
          </a:xfrm>
          <a:prstGeom prst="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9052" y="1664208"/>
            <a:ext cx="5875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164842" y="1664208"/>
            <a:ext cx="587502" cy="219456"/>
          </a:xfrm>
          <a:prstGeom prst="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4842" y="1664208"/>
            <a:ext cx="58750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47472" y="193852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Code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47472" y="2093976"/>
            <a:ext cx="2423160" cy="23774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1122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HYD-031  Hydraulic Relief Pressure Low  ▾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47472" y="2386584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Warranty Code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47472" y="2542032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56032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WC-HYD-4412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7472" y="283464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/ Root Cause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47472" y="2990088"/>
            <a:ext cx="2423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00837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relief valve worn — seat erosion detected. Pressure reading 160 bar vs spec 200 bar.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47472" y="344728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Method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47472" y="3611880"/>
            <a:ext cx="1193292" cy="201168"/>
          </a:xfrm>
          <a:prstGeom prst="rect">
            <a:avLst>
              <a:gd name="adj" fmla="val 18182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611880"/>
            <a:ext cx="11932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577340" y="3611880"/>
            <a:ext cx="1193292" cy="201168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77340" y="3611880"/>
            <a:ext cx="11932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 Code Library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populated from NS custom record "Fault Code Library" — JCB-specific DTC codes with system category (Hydraulic / Engine / Electrical / Structural). Filtered by machine model.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 Capture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text saved to WO Diagnosis field. Also writes to Asset Service History record — builds longitudinal fault log per machine SN for trend analysis.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 Fault Code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claim requires OEM Warranty Fault Code in addition to internal code. Field mandatory when Job Type = Warranty. Validates against Warranty Code master list.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Method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selects repair approach: Replace / Repair / Adjust / Investigate. Drives parts and labour planning. Saved to WO custom field Repair Method.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 Flag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Toggle: Escalate to Senior Tech. Sets NS WO flag, triggers SuiteFlow notification to Workshop Supervisor. Senior Tech review required before further action.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T-07 · Parts Request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Parts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527048"/>
            <a:ext cx="2313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parts  (part# or description)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47472" y="1783080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81051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813/00283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" y="1965960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O-Ring Set – Hydraulic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93192" y="2112264"/>
            <a:ext cx="1453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Avail: 8  ·  Bin: A-03-12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192" y="2258568"/>
            <a:ext cx="9692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 2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221992" y="2203704"/>
            <a:ext cx="502920" cy="164592"/>
          </a:xfrm>
          <a:prstGeom prst="rect">
            <a:avLst>
              <a:gd name="adj" fmla="val 2222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21992" y="22037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347472" y="2441448"/>
            <a:ext cx="2423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468880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JCB-FLT-5L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3192" y="2624328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Fluid 5L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93192" y="2770632"/>
            <a:ext cx="1453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Avail: 12  ·  Bin: B-01-04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93192" y="2916936"/>
            <a:ext cx="9692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 1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221992" y="2862072"/>
            <a:ext cx="502920" cy="164592"/>
          </a:xfrm>
          <a:prstGeom prst="rect">
            <a:avLst>
              <a:gd name="adj" fmla="val 2222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21992" y="2862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347472" y="3099816"/>
            <a:ext cx="2423160" cy="621792"/>
          </a:xfrm>
          <a:prstGeom prst="rect">
            <a:avLst/>
          </a:prstGeom>
          <a:solidFill>
            <a:srgbClr val="FDEE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127248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331/39380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93192" y="3282696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Valve Assy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93192" y="3429000"/>
            <a:ext cx="1453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Avail: 0  ·  Bin: —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93192" y="3575304"/>
            <a:ext cx="9692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 1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221992" y="3520440"/>
            <a:ext cx="502920" cy="164592"/>
          </a:xfrm>
          <a:prstGeom prst="rect">
            <a:avLst>
              <a:gd name="adj" fmla="val 22222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352044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Back-Order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347472" y="3776472"/>
            <a:ext cx="2423160" cy="256032"/>
          </a:xfrm>
          <a:prstGeom prst="rect">
            <a:avLst>
              <a:gd name="adj" fmla="val 17857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7764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PARTS ISSUE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Inventory Check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search calls NS RESTlet → queries Inventory Availability by Location (Main Workshop). Shows On Hand, Committed, Available qty per bin location.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Parts Issue to WO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parts trigger NS Inventory Adjustment (Issue) record linked to WO. Reduces On Hand. COGS posted to Parts Usage account. WO cost updated instantly.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 Location Pick List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available, shows Bin Loc (e.g., A-03-12). Technician confirms pick. NS Item Fulfilment record created for tracked pull from WMS bin.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Back-Order Handling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qty unavailable, app auto-creates NS Purchase Order line (or adds to existing blanket PO) for part. Estimated lead time shown from Vendor record.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Cost Visibility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sees part cost only if Role allows (field-level permission). For Warranty jobs, cost posted to Warranty Claim sub-record for OEM reimbursement claim.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T-08 · Labour Timer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Labour Timer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37744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50876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ACTIVE: Hydraulic System Repair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" y="1783080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01:47:33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2167128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 ·  Est: 2.5h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47472" y="2395728"/>
            <a:ext cx="1193292" cy="237744"/>
          </a:xfrm>
          <a:prstGeom prst="rect">
            <a:avLst>
              <a:gd name="adj" fmla="val 19231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395728"/>
            <a:ext cx="11932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77340" y="2395728"/>
            <a:ext cx="1193292" cy="237744"/>
          </a:xfrm>
          <a:prstGeom prst="rect">
            <a:avLst>
              <a:gd name="adj" fmla="val 19231"/>
            </a:avLst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7340" y="2395728"/>
            <a:ext cx="11932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TASK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269748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Labour Log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47472" y="2862072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898648"/>
            <a:ext cx="109042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37894" y="2898648"/>
            <a:ext cx="60579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0:23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092147" y="2916936"/>
            <a:ext cx="457200" cy="146304"/>
          </a:xfrm>
          <a:prstGeom prst="rect">
            <a:avLst>
              <a:gd name="adj" fmla="val 25000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92147" y="291693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347472" y="3136392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172968"/>
            <a:ext cx="109042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Fit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437894" y="3172968"/>
            <a:ext cx="60579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092147" y="3191256"/>
            <a:ext cx="457200" cy="146304"/>
          </a:xfrm>
          <a:prstGeom prst="rect">
            <a:avLst>
              <a:gd name="adj" fmla="val 25000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92147" y="31912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347472" y="3410712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3447288"/>
            <a:ext cx="109042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Hyd. Repair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437894" y="3447288"/>
            <a:ext cx="60579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1:47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092147" y="3465576"/>
            <a:ext cx="457200" cy="146304"/>
          </a:xfrm>
          <a:prstGeom prst="rect">
            <a:avLst>
              <a:gd name="adj" fmla="val 25000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92147" y="346557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347472" y="3721608"/>
            <a:ext cx="2423160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" y="373989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Today: 2h 55m  ·  Est. Remaining: 0:33h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Multi-Task Timer Switching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can run one active timer at a time. Switching tasks pauses current NS Time Entry and opens new one. All entries linked to same WO, same date.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Time Entry per Task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(Diagnosis, Parts Fit, Testing) creates a separate NS Time Entry line on the WO. Labour type determines billing rate: Standard / Warranty / Internal.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Deduction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"Break" to pause timer. NS Time Entry paused. Break duration tracked separately. Net payable hours auto-calculated: Total − Breaks.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Overtime Flagging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total daily hours exceed threshold (e.g. 9h), NS creates Overtime flag on Time Entry. Requires Supervisor approval in SuiteFlow approval chain.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Labour Cost Posting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Clock Out, NS posts actual labour cost to WO using employee Labour Rate from NS Employee record. Cost visible to Service Advisor in WO Cost Summary.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T-09 · Photo Upload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5087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Photos (3)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47472" y="1709928"/>
            <a:ext cx="1193292" cy="603504"/>
          </a:xfrm>
          <a:prstGeom prst="rect">
            <a:avLst/>
          </a:prstGeom>
          <a:solidFill>
            <a:srgbClr val="EEF3F7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746504"/>
            <a:ext cx="11201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746504"/>
            <a:ext cx="1120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2139696"/>
            <a:ext cx="11201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577340" y="1709928"/>
            <a:ext cx="1193292" cy="603504"/>
          </a:xfrm>
          <a:prstGeom prst="rect">
            <a:avLst/>
          </a:prstGeom>
          <a:solidFill>
            <a:srgbClr val="EEF3F7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3916" y="1746504"/>
            <a:ext cx="11201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13916" y="1746504"/>
            <a:ext cx="1120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7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13916" y="2139696"/>
            <a:ext cx="11201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87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47472" y="2368296"/>
            <a:ext cx="1193292" cy="603504"/>
          </a:xfrm>
          <a:prstGeom prst="rect">
            <a:avLst/>
          </a:prstGeom>
          <a:solidFill>
            <a:srgbClr val="EEF3F7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404872"/>
            <a:ext cx="11201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404872"/>
            <a:ext cx="1120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" y="2798064"/>
            <a:ext cx="11201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577340" y="2368296"/>
            <a:ext cx="1193292" cy="60350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77340" y="2368296"/>
            <a:ext cx="11932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 Add Photo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3044952"/>
            <a:ext cx="2423160" cy="201168"/>
          </a:xfrm>
          <a:prstGeom prst="rect">
            <a:avLst/>
          </a:prstGeom>
          <a:solidFill>
            <a:srgbClr val="EA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063240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Before photo  ✓  Fault photo  (2/2 required)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47472" y="3300984"/>
            <a:ext cx="24231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31927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to File Cabinet...  85%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47472" y="3502152"/>
            <a:ext cx="2059686" cy="54864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3630168"/>
            <a:ext cx="2423160" cy="256032"/>
          </a:xfrm>
          <a:prstGeom prst="rect">
            <a:avLst>
              <a:gd name="adj" fmla="val 17857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630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  →  Proceed to Signature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File Cabinet Upload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compressed to JPEG (max 2MB) and uploaded via RESTlet multipart POST → stored in NS File Cabinet folder /DMS/WO/WO-2024-0891/. URL saved on WO Attachment sublist.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Tagging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 tagged with category: Before / After / Fault / Parts. Tags stored as custom fields on NS File record. Powers warranty claim photo evidence package.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Stamping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data (GPS coords, timestamp) preserved. NS File record stores: Photo Date, Technician, WO#, Machine SN. Tamper-evident for warranty and insurance claims.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 Photo Rules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jobs require minimum 2 photos (Before + Fault). SuiteFlow validation prevents job closure if mandatory photo count not met. Alert shown in app.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Evidence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shared to Customer Portal via NS File Cabinet permission. Customer can view repair evidence in self-service portal before signing off.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T-10 · Customer Signature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Sign-Off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53035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53619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Summary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0624" y="1700784"/>
            <a:ext cx="22860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Hydraulic relief valve replaced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20624" y="1801368"/>
            <a:ext cx="22860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O-Ring Set ×2, Hyd Fluid 5L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20624" y="1901952"/>
            <a:ext cx="22860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Labour: 2h 55m  ·  Type: Warranty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47472" y="210312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" y="2258568"/>
            <a:ext cx="2423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27685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 Rashid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7472" y="253288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47472" y="2688336"/>
            <a:ext cx="2423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6883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Signature Area ]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" y="3191256"/>
            <a:ext cx="2423160" cy="18288"/>
          </a:xfrm>
          <a:prstGeom prst="rect">
            <a:avLst/>
          </a:prstGeom>
          <a:solidFill>
            <a:srgbClr val="5A6E7F"/>
          </a:solidFill>
          <a:ln w="12700">
            <a:solidFill>
              <a:srgbClr val="5A6E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18688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above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347472" y="3383280"/>
            <a:ext cx="164592" cy="16459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3832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3392424"/>
            <a:ext cx="22037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confirm work has been completed satisfactorily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47472" y="3630168"/>
            <a:ext cx="2423160" cy="256032"/>
          </a:xfrm>
          <a:prstGeom prst="rect">
            <a:avLst>
              <a:gd name="adj" fmla="val 17857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630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SIGNATURE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Summary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renders read-only job summary: Work Performed, Parts Used (with quantities), Total Labour Hours, Job Type. Pulled live from NS WO record and Time Entries.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Signature Capture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drawn on device touchscreen. Captured as SVG/PNG, embedded in PDF job card. Stored in NS File Cabinet linked to WO. Legally admissible in UAE jurisdiction.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Custom Field: Sig Date/Time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timestamp saved to WO custom fields: Customer Sig Date, Customer Sig Time, Customer Name (typed). NS audit trail record created automatically.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Acceptance Confirmation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checks: "I confirm the work described has been completed to my satisfaction." Checkbox state saved to WO boolean field Customer Accepted.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Job Card Trigger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signature save, SuiteFlow triggers RESTlet to generate PDF job card (BFO / Suitelet renderer). PDF emailed to customer and stored in NS File Cabinet.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T-11 · Job Closure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12  —  Technician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Job  ·  WO-0891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1945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087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Closure Checklist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7472" y="1783080"/>
            <a:ext cx="2423160" cy="210312"/>
          </a:xfrm>
          <a:prstGeom prst="rect">
            <a:avLst/>
          </a:prstGeom>
          <a:solidFill>
            <a:srgbClr val="EAF5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801368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test: 200 bar ✓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47472" y="2020824"/>
            <a:ext cx="24231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039112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cycle performed ✓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" y="2258568"/>
            <a:ext cx="2423160" cy="210312"/>
          </a:xfrm>
          <a:prstGeom prst="rect">
            <a:avLst/>
          </a:prstGeom>
          <a:solidFill>
            <a:srgbClr val="EAF5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2276856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area cleaned ✓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47472" y="2496312"/>
            <a:ext cx="24231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514600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accounted for ✓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47472" y="2734056"/>
            <a:ext cx="2423160" cy="210312"/>
          </a:xfrm>
          <a:prstGeom prst="rect">
            <a:avLst/>
          </a:prstGeom>
          <a:solidFill>
            <a:srgbClr val="EAF5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2752344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returned to bay ✓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47472" y="301752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Notes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47472" y="3172968"/>
            <a:ext cx="2423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1912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at 2,500h. Monitor relief valve pressure monthly.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47472" y="3557016"/>
            <a:ext cx="24231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575304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AED 620  Labour: AED 880  Total: AED 1,500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93192" y="3721608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Warranty  ·  Claim: WC-HYD-4412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347472" y="3941064"/>
            <a:ext cx="2423160" cy="91440"/>
          </a:xfrm>
          <a:prstGeom prst="rect">
            <a:avLst>
              <a:gd name="adj" fmla="val 40000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941064"/>
            <a:ext cx="2423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JOB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 Status → Closed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Closure sets NS WO Status to "Completed — Pending Review". Service Advisor receives SuiteFlow notification to review before final Close &amp; Bill.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Checklist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checks: Test drive / pressure test completed, Area cleaned, Tools accounted for, Machine returned to customer / bay. All items mandatory before submit.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Labour Clock-Out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job auto-clocks-out all active Time Entries on the WO. NS Time Entry end times set to current timestamp. Summary posted to WO cost.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Technician Notes to Advisor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 for handover notes to Service Advisor: findings, follow-up recommendations, next service mileage. Saved to WO Advisor Notes field.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 Cost Summary Display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Parts Cost, Labour Cost, Total WO Cost before submission. Pulled from NS WO Cost Summary sub-record. Read-only visibility for technician.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T-12 · Sync &amp; Confirmation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12  —  Technician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12  —  Technician App  ·  ITBS DMS Mobile  ·  Job Complete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Complete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1580" y="1554480"/>
            <a:ext cx="694944" cy="694944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1580" y="15544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" y="229514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Synced to NetSuite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560320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58775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Entries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65199" y="258775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records  ·  2h 55m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606040" y="2587752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834640"/>
            <a:ext cx="2423160" cy="23774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86207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Issued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365199" y="286207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lines  ·  AED 620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606040" y="2862072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108960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13639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365199" y="313639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 ·  File Cabinet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606040" y="3136392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383280"/>
            <a:ext cx="2423160" cy="23774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41071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365199" y="341071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10:47 AM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606040" y="3410712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3657600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68503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Status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365199" y="3685032"/>
            <a:ext cx="10177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– Pending Review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606040" y="3685032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3959352"/>
            <a:ext cx="2423160" cy="91440"/>
          </a:xfrm>
          <a:prstGeom prst="rect">
            <a:avLst>
              <a:gd name="adj" fmla="val 40000"/>
            </a:avLst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959352"/>
            <a:ext cx="2423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WO-2024-0887  →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Data Sync to NetSuite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pushes all offline-queued records via RESTlet batch API: Time Entries, Parts Issues, Diagnosis notes, Photos. NS confirms each with 200 OK response.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 Record Finalised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WO record updated: Status = Completed – Pending Review, Total Actual Hours, Total Parts Cost, Customer Signature URL, Closure Timestamp.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Advisor Alert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SuiteFlow sends email + NS Reminder to assigned Service Advisor: "WO-2024-0891 closed by K. Mensah — ready for billing review." Link to WO in email.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 Claim Auto-Package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Warranty jobs: SuiteFlow assembles Warranty Claim record with Fault Code, Photos, Time Entries, Parts, Customer Sig PDF. Ready for OEM submission.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Job Auto-Prompt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sync, app checks next queued WO for TECH-042. If found, prompts: "Next Job: WO-2024-0887 — Gulf Build Co." One tap to navigate to Job Details.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C36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Pre-Delivery Inspection  ·  Login → Scan → Checklists → Sign-Off → PDF  —  10 screens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164592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P-01 · Login / Unit Scan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App  ·  Login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56032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JCB  PDI INSPECTOR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1828800"/>
            <a:ext cx="2423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84708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7472" y="2093976"/>
            <a:ext cx="2423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112264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 ●●●●●●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7472" y="2359152"/>
            <a:ext cx="2423160" cy="237744"/>
          </a:xfrm>
          <a:prstGeom prst="rect">
            <a:avLst>
              <a:gd name="adj" fmla="val 19231"/>
            </a:avLst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5915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32104" y="2660904"/>
            <a:ext cx="1453896" cy="18288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624328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or scan unit  —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393192" y="2743200"/>
            <a:ext cx="2331720" cy="969264"/>
          </a:xfrm>
          <a:prstGeom prst="rect">
            <a:avLst/>
          </a:prstGeom>
          <a:solidFill>
            <a:srgbClr val="0D1F2D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743200"/>
            <a:ext cx="23317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QR SCAN 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376732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QR code or barcode within frame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47472" y="381304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entry: tap here  ▸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PDI-Role Authentication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Role: PDI Technician. Separate role from Field Technician — scoped to PDI custom record access only. TBA auth same RESTlet as main app.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QR / Barcode Scan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scan machine QR code (printed on delivery manifest). App calls NS RESTlet GET /api/v1/assets?serial=&lt;SN&gt; to fetch Asset record and linked PDI template.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Template Assignment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PDI Template custom record auto-assigned by machine model (JCB 3CX → JCB-PDI-3CX-V2). Template defines sections, checklist items, mandatory photos, pass/fail criteria.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Order Link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links to NS Sales Order / Delivery Order record. Confirms unit is on delivery manifest. Prevents PDI on non-sold or previously PDI-checked unit.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SN Entry Fallback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QR scan fails, technician manually enters Serial Number. NS lookup validates against Asset register. Audit log records manual-entry flag for QA review.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P-02 · PDI Assignment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Assignment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53619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JCB 3CX Backhoe Loader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192" y="1700784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SN: JCB3CX00181234  ·  Yellow / Black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93192" y="1847088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Jan 2026  ·  Model Year 2026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130552" y="1545336"/>
            <a:ext cx="594360" cy="164592"/>
          </a:xfrm>
          <a:prstGeom prst="rect">
            <a:avLst/>
          </a:prstGeom>
          <a:solidFill>
            <a:srgbClr val="EA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30552" y="154533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✓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47472" y="2112264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130552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Al Noor Construction LLC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93192" y="2276856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SO-2024-1102  ·  Delivery: 15 Apr 2026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47472" y="2551176"/>
            <a:ext cx="2423160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5694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JCB-PDI-3CX-V2  ·  44 Checkpoints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47472" y="2843784"/>
            <a:ext cx="24231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862072"/>
            <a:ext cx="13327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801368" y="2862072"/>
            <a:ext cx="8723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items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47472" y="3063240"/>
            <a:ext cx="2423160" cy="19202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081528"/>
            <a:ext cx="13327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801368" y="3081528"/>
            <a:ext cx="8723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items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47472" y="3282696"/>
            <a:ext cx="24231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300984"/>
            <a:ext cx="13327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801368" y="3300984"/>
            <a:ext cx="8723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items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347472" y="3502152"/>
            <a:ext cx="2423160" cy="19202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520440"/>
            <a:ext cx="13327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801368" y="3520440"/>
            <a:ext cx="8723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7472" y="3721608"/>
            <a:ext cx="242316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739896"/>
            <a:ext cx="13327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801368" y="3739896"/>
            <a:ext cx="87233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items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47472" y="3977640"/>
            <a:ext cx="2423160" cy="73152"/>
          </a:xfrm>
          <a:prstGeom prst="rect">
            <a:avLst>
              <a:gd name="adj" fmla="val 50000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977640"/>
            <a:ext cx="24231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PDI  →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PDI Record Auto-Created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QR scan, RESTlet creates NS PDI Inspection custom record: PDI#, Asset SN, Sales Order, Customer, Assigned Technician, Template, Date/Time, Status = In Progress.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Verification Display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shows Asset record data: Model (JCB 3CX), SN (JCB3CX00181234), Colour, Build Date, Spec. Technician confirms physical unit matches system record before proceeding.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Delivery Info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Customer (Al Noor Construction LLC), Sales Order SO-2024-1102, Delivery Date, Sales Rep. Pulls from linked NS Sales Order + Customer record.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Template Version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version displayed (JCB-PDI-3CX-V2, effective Jan 2025). NS enforces version control — old templates locked after new version activated. Audit-compliant.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Overview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shows PDI sections to be completed: Engine (12 items), Hydraulics (10 items), Safety (8 items), Electrical (6 items), Cosmetic (8 items). Total: 44 check points.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P-03 · Section Checklist — Engine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 Checks  (1/5)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128016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508760"/>
            <a:ext cx="1623517" cy="128016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5087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 8 / 12 complete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347472" y="169164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72821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oil level &amp; condition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95144" y="173736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5144" y="173736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47472" y="196596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00253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 level &amp; hose condition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295144" y="201168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5144" y="201168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47472" y="224028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27685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filter — clean &amp; secure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295144" y="228600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5144" y="228600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47472" y="251460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55117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belt — tension &amp; wear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295144" y="256032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95144" y="256032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47472" y="278892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282549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system — no leaks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295144" y="283464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95144" y="283464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7472" y="306324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09981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— terminals &amp; charge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295144" y="310896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5144" y="310896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47472" y="333756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37413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— no smoke / leaks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295144" y="338328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95144" y="338328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347472" y="361188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364845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mounts — secure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95144" y="365760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95144" y="365760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47472" y="393192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more items  (scroll down)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PDI Checklist Sub-Record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checklist section maps to a NS PDI Section custom sub-record on the PDI Inspection. Each item is a line: Item Name, Result (Pass/Fail/N/A), Notes, Photo Required flag.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Pass/Fail/N/A Toggle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Three-state toggle per item. Selecting Fail opens Fail Detail screen (P-06). N/A records reason and PDI Lead approval required — prevents blanket skip abuse.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Indicator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progress bar (8/12 items complete) shown at top. Overall PDI progress ring in header (e.g. 20% done — 1 of 5 sections). Syncs to NS PDI record % complete field.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 Reference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checklist item has an info button — shows OEM spec (e.g. "Engine oil: 10W-40 — check dipstick between MIN and MAX marks"). Pulled from NS Item Spec library record.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Auto-Save to NS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result auto-saves via RESTlet PATCH every 3 items or on navigation. No data lost if app closes mid-inspection. NS PDI record preserves partial completion.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P-04 · Section Checklist — Hydraulics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Hydraulics (2/5)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128016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508760"/>
            <a:ext cx="1211580" cy="128016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5087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  5 / 10 complete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347472" y="169164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72821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fluid level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95144" y="173736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5144" y="173736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47472" y="196596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00253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condition — Clean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295144" y="201168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5144" y="201168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47472" y="224028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27685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relief pressure: 198 bar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295144" y="228600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5144" y="228600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47472" y="251460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55117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pressure: 41 bar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295144" y="256032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95144" y="256032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47472" y="278892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282549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cylinder — no leaks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295144" y="283464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95144" y="283464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7472" y="306324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09981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cylinder — no leaks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295144" y="310896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5144" y="310896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47472" y="333756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37413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cylinder seal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295144" y="338328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95144" y="338328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347472" y="361188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364845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 run — boom LH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95144" y="365760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95144" y="365760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47472" y="390448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cylinder FAIL — tap to log detail  ▼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Hydraulic Pressure Test Entry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items require numeric test result entry (e.g. "Main Relief Pressure: ___ bar"). NS stores actual reading vs. spec in PDI item result fields. Fail triggered if reading outside tolerance.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Fluid Level &amp; Condition Check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selects fluid condition: Clean / Discoloured / Contaminated from dropdown. Contaminated auto-fails item and raises NS alert to Workshop Supervisor.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Cylinder &amp; Hose Inspection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cylinder and hose run must be inspected. Items grouped by subsystem. NS PDI item has Subsystem field — allows grouped reporting for OEM warranty analysis.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Test Recording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Boom/Arm/Bucket full cycle test. Technician records cycle time (e.g. "Lift 8.4s vs spec 8.0–9.0s"). Pass/Fail auto-determined. Numeric fields stored on NS PDI sub-record.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Required on Fail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 item in Hydraulics section triggers mandatory photo (Photo Required = true on NS PDI Item record). App enforces before allowing section completion.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P-05 · Section Checklist — Safety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Checks (3/5)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128016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508760"/>
            <a:ext cx="2120265" cy="12801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5087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7 / 8 complete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347472" y="169164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1691640"/>
            <a:ext cx="36576" cy="24688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2821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ROPS label present &amp; legible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295144" y="173736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95144" y="173736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47472" y="196596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1965960"/>
            <a:ext cx="36576" cy="24688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00253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— functional &amp; undamaged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295144" y="201168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201168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47472" y="224028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240280"/>
            <a:ext cx="36576" cy="24688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27685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safety lock — test pass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295144" y="228600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95144" y="228600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47472" y="251460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2514600"/>
            <a:ext cx="36576" cy="24688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55117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alarm — 85+ dB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295144" y="256032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95144" y="256032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7472" y="278892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82549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decals complete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295144" y="283464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5144" y="283464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47472" y="306324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09981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manual (EN/AR)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295144" y="310896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95144" y="310896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347472" y="3337560"/>
            <a:ext cx="2423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37413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ignition keys present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95144" y="338328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95144" y="338328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47472" y="3611880"/>
            <a:ext cx="2423160" cy="246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7472" y="3611880"/>
            <a:ext cx="36576" cy="24688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648456"/>
            <a:ext cx="157505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extinguisher — charged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295144" y="3657600"/>
            <a:ext cx="438912" cy="155448"/>
          </a:xfrm>
          <a:prstGeom prst="rect">
            <a:avLst>
              <a:gd name="adj" fmla="val 23529"/>
            </a:avLst>
          </a:prstGeom>
          <a:solidFill>
            <a:srgbClr val="F4F6F9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95144" y="3657600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47472" y="390448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stripe = Critical item  ·  All must Pass to proceed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Safety Items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section items are marked Critical = true on NS PDI Template. Any fail on a Critical item blocks PDI completion — machine cannot be delivered until resolved.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ROPS / FOPS Certification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Asset record stores ROPS Certificate #. PDI checks ROPS label present and unobstructed. Certificate # field validated — must match Asset record. Audit trail created.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Manual &amp; Keys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items checklist: Operator Manual (language match), 2× Keys, Reverse Alarm, Warning Decals. All items Pass = mandatory for delivery sign-off.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Lock Functional Test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safety lock test — arm must lock when lever engaged. NS PDI item records pass/fail and technician name. Creates mandatory Supervisor QA sign-off line.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Extinguisher &amp; First Aid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equipment check per site regulation. NS checklist item references UAE Cabinet Decision 28/2023 (workplace safety equipment). Pass required for legal delivery compliance.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P-06 · Fail Item Detail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Detail  ·  Arm Cyl.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3774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0876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·  Arm Cylinder — Seal Leak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472" y="180136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Category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47472" y="1965960"/>
            <a:ext cx="1193292" cy="210312"/>
          </a:xfrm>
          <a:prstGeom prst="rect">
            <a:avLst>
              <a:gd name="adj" fmla="val 17391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965960"/>
            <a:ext cx="11932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Leak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577340" y="1965960"/>
            <a:ext cx="1193292" cy="210312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77340" y="1965960"/>
            <a:ext cx="11932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47472" y="2203704"/>
            <a:ext cx="1193292" cy="210312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203704"/>
            <a:ext cx="11932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577340" y="2203704"/>
            <a:ext cx="1193292" cy="210312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7340" y="2203704"/>
            <a:ext cx="11932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47472" y="248716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47472" y="2642616"/>
            <a:ext cx="789432" cy="219456"/>
          </a:xfrm>
          <a:prstGeom prst="rect">
            <a:avLst>
              <a:gd name="adj" fmla="val 16667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642616"/>
            <a:ext cx="789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155192" y="2642616"/>
            <a:ext cx="789432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55192" y="2642616"/>
            <a:ext cx="789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962912" y="2642616"/>
            <a:ext cx="789432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5A6E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2912" y="2642616"/>
            <a:ext cx="789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47472" y="2916936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Description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47472" y="3072384"/>
            <a:ext cx="2423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09067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cylinder rod seal weeping oil. Visible drip below rod end. Factory defect — pre-delivery.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47472" y="349300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Defect Code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47472" y="3648456"/>
            <a:ext cx="242316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666744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JCB-DEF-HYD-009  ▾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47472" y="3931920"/>
            <a:ext cx="2423160" cy="91440"/>
          </a:xfrm>
          <a:prstGeom prst="rect">
            <a:avLst>
              <a:gd name="adj" fmla="val 4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931920"/>
            <a:ext cx="2423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FAIL  →  CAPTURE PHOTO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PDI Fail Record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trigger creates NS PDI Fail custom sub-record linked to PDI Inspection. Fields: Item Name, Fail Category, Severity, Defect Description, Corrective Action Required, Responsible Party.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Severity Classification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selects: Critical (blocks delivery) / Major (PDI Lead approval) / Minor (log and proceed). Severity stored on NS Fail record. Critical triggers SuiteFlow escalation to Workshop Manager.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 Action Assignment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record auto-assigns to PDI Lead or Workshop Technician based on Severity. NS SuiteFlow creates a linked Work Order for repair if severity = Critical or Major.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Rework WO Creation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fails, RESTlet POST creates a new NS Work Order (Type = Pre-Delivery Rework) linked to the PDI record and Asset. Technician assigned from available pool.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OEM Defect Reporting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item records feed into NS OEM Defect Report custom record — used for JCB warranty claims on factory defects. Defect Code from OEM Defect library required for Critical items.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P-07 · Photo Capture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C45E0A"/>
          </a:solidFill>
          <a:ln w="12700">
            <a:solidFill>
              <a:srgbClr val="C45E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Capture  ·  PDI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859536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08760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Camera Viewfinder 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55192" y="1508760"/>
            <a:ext cx="9144" cy="859536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2912" y="1508760"/>
            <a:ext cx="9144" cy="859536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1792224"/>
            <a:ext cx="2423160" cy="9144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084832"/>
            <a:ext cx="2423160" cy="9144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368296"/>
            <a:ext cx="2423160" cy="20116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6829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Item: Arm Cylinder Seal Leak  ·  CRITICAL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321308" y="26060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6172" y="26609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6172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312724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(1)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47472" y="3282696"/>
            <a:ext cx="457200" cy="457200"/>
          </a:xfrm>
          <a:prstGeom prst="rect">
            <a:avLst/>
          </a:prstGeom>
          <a:solidFill>
            <a:srgbClr val="FDEEE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" y="3282696"/>
            <a:ext cx="457200" cy="457200"/>
          </a:xfrm>
          <a:prstGeom prst="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47472" y="3794760"/>
            <a:ext cx="2423160" cy="237744"/>
          </a:xfrm>
          <a:prstGeom prst="rect">
            <a:avLst>
              <a:gd name="adj" fmla="val 19231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79476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  →  Return to Checklist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File Cabinet — PDI Folder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stored in NS File Cabinet /DMS/PDI/&lt;PDI#&gt;/. Each photo auto-named: &lt;PDI#&gt;-&lt;SectionCode&gt;-&lt;ItemCode&gt;-&lt;n&gt;.jpg. URL stored on NS PDI Fail record.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 vs. Optional Photos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PDI item has Photo Required flag. App enforces minimum 1 photo per Fail item and 2 per Critical fail. Optional photo items shown with camera icon for reference shots.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/ Markup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allows technician to draw arrows or circles on photo (on-device markup tool). Annotated image uploaded as separate file — raw + annotated both stored in NS File Cabinet.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Count per Section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 shows photo count (e.g. "Hydraulics: 2 photos"). NS PDI record tracks photo count per section. OEM warranty claim requires minimum photos per defect category.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Photo Queue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offline, photos saved to device local queue. Upload triggered automatically when connectivity restored. NS PDI record shows "Photos Pending Upload" status until all synced.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P-08 · Technician Sign-Off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Sign-Off  ·  PDI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237744"/>
          </a:xfrm>
          <a:prstGeom prst="rect">
            <a:avLst/>
          </a:prstGeom>
          <a:solidFill>
            <a:srgbClr val="EA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0876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All Sections Complete  ·  44/44 Items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" y="1801368"/>
            <a:ext cx="2423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19656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Score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47472" y="19476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97.7%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472" y="2221992"/>
            <a:ext cx="2423160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24028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Major fail — Arm Seal (Corrective WO raised)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472" y="251460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47472" y="2670048"/>
            <a:ext cx="24231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68833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certify this PDI was conducted per JCB delivery standards and all items have been inspected.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347472" y="3072384"/>
            <a:ext cx="164592" cy="16459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7238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081528"/>
            <a:ext cx="2203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 to the declaration above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47472" y="3282696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2826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Technician Signature 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3813048"/>
            <a:ext cx="2423160" cy="237744"/>
          </a:xfrm>
          <a:prstGeom prst="rect">
            <a:avLst>
              <a:gd name="adj" fmla="val 19231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81304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&amp; PROCEED TO DELIVERY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Completion Validation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sign-off screen loads, RESTlet validates: all sections complete, no open Critical fails, mandatory photos present, all N/A items have PDI Lead override. Errors listed if incomplete.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PDI Status → Completed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sign-off sets NS PDI Inspection Status = "Completed — Awaiting Customer". Timestamp, Tech ID, and NS User ID saved. Immutable after this point.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Lead Override Required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Major fail items remain open (corrective action not done), PDI Lead must countersign before status can advance to Completed. SuiteFlow route for approval.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Declaration Statement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displays legal declaration: "I certify this PDI has been conducted in accordance with JCB delivery standards." Checkbox and signature mandatory. Stored on NS PDI record.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Auto-QA Score Calculation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Saved Search calculates PDI QA Score: (Pass items ÷ Total applicable items) × 100. Score stored on PDI record. Target: ≥ 95%. Below threshold flags for QA review.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P-09 · Customer Delivery Screen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10  —  PDI App  ·  ITBS DMS Mobile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1C6E79"/>
          </a:solidFill>
          <a:ln w="12700">
            <a:solidFill>
              <a:srgbClr val="1C6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1C6E79"/>
          </a:solidFill>
          <a:ln w="12700">
            <a:solidFill>
              <a:srgbClr val="1C6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Delivery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08760"/>
            <a:ext cx="24231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536192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JCB 3CX  ·  SN: JCB3CX00181234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93192" y="1700784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Result: PASS (1 open rework item)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93192" y="1847088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Warranty: 15 Apr 2026 – 14 Apr 2028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47472" y="212140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Items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47472" y="2295144"/>
            <a:ext cx="2423160" cy="210312"/>
          </a:xfrm>
          <a:prstGeom prst="rect">
            <a:avLst/>
          </a:prstGeom>
          <a:solidFill>
            <a:srgbClr val="EAF5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313432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Manual (EN + AR) ✓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47472" y="2532888"/>
            <a:ext cx="24231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551176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Declaration of Conformity ✓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47472" y="2770632"/>
            <a:ext cx="2423160" cy="210312"/>
          </a:xfrm>
          <a:prstGeom prst="rect">
            <a:avLst/>
          </a:prstGeom>
          <a:solidFill>
            <a:srgbClr val="EAF5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788920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Registration Card ✓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47472" y="3008376"/>
            <a:ext cx="24231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026664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Ignition Keys ✓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47472" y="3246120"/>
            <a:ext cx="2423160" cy="210312"/>
          </a:xfrm>
          <a:prstGeom prst="rect">
            <a:avLst/>
          </a:prstGeom>
          <a:solidFill>
            <a:srgbClr val="EAF5EE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264408"/>
            <a:ext cx="231343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Attachment Pins ✓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47472" y="3493008"/>
            <a:ext cx="2423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51129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Receiving: Ahmed Al Rashid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47472" y="3767328"/>
            <a:ext cx="2423160" cy="237744"/>
          </a:xfrm>
          <a:prstGeom prst="rect">
            <a:avLst>
              <a:gd name="adj" fmla="val 19231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7673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SIGN-OFF  →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Handover Summary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renders delivery summary for customer review: Machine details, PDI result (Pass with 1 Major item — Rework WO raised), items demonstrated, items to follow up.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 Registration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Warranty Start Date captured at delivery. NS Asset record updated: Warranty Start = today, Warranty End = today + contract period (24 months standard). RESTlet PUT.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Accessories &amp; Manuals Handover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Operator Manual, CE Certificate, Warranty Card, Keys, Attachments. Customer initials each item. Stored as NS custom checklist sub-record on PDI.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Sign-Off on 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electronic signature captured. Stored on NS PDI Inspection record: Customer Name, Sig PNG URL, Delivery Date, Customer Contact. Sales Order status updated.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Sales Order → Delivered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 triggers RESTlet to update NS Sales Order status to "Delivered". Creates NS Item Fulfilment record (delivery confirmation). Finance team notified to invoice.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Operating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P-10 · PDI Complete / PDF Generated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2560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10  —  PDI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9651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10  —  PDI App  ·  PDI Complete  ·  thussain@itelligencesys.com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86968"/>
            <a:ext cx="2606040" cy="3995928"/>
          </a:xfrm>
          <a:prstGeom prst="roundRect">
            <a:avLst>
              <a:gd name="adj" fmla="val 6316"/>
            </a:avLst>
          </a:prstGeom>
          <a:solidFill>
            <a:srgbClr val="0D1F2D"/>
          </a:solidFill>
          <a:ln w="12700">
            <a:solidFill>
              <a:srgbClr val="0A18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" y="941832"/>
            <a:ext cx="2496312" cy="21945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50976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●●●  WiFi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310896" y="1161288"/>
            <a:ext cx="2496312" cy="31089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70432"/>
            <a:ext cx="238658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Complete ✓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472184"/>
            <a:ext cx="2496312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7884" y="4791456"/>
            <a:ext cx="402336" cy="41148"/>
          </a:xfrm>
          <a:prstGeom prst="rect">
            <a:avLst>
              <a:gd name="adj" fmla="val 44444"/>
            </a:avLst>
          </a:prstGeom>
          <a:solidFill>
            <a:srgbClr val="A8B8C5"/>
          </a:solidFill>
          <a:ln w="12700">
            <a:solidFill>
              <a:srgbClr val="A8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3292" y="1527048"/>
            <a:ext cx="731520" cy="73152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3292" y="15270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" y="23317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PDI Complete &amp; Delivered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253288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Score: 97.7%  ·  15 Apr 2026, 11:42 AM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47472" y="2743200"/>
            <a:ext cx="24231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779776"/>
            <a:ext cx="219456" cy="256032"/>
          </a:xfrm>
          <a:prstGeom prst="rect">
            <a:avLst>
              <a:gd name="adj" fmla="val 125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7977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40080" y="2779776"/>
            <a:ext cx="20939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PDI-JCB3CX-2024-0055-Certificate.pdf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0080" y="2926080"/>
            <a:ext cx="20939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Emailed to customer  ·  Stored in File Cabinet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347472" y="3127248"/>
            <a:ext cx="24231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154680"/>
            <a:ext cx="1017727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Status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413662" y="3154680"/>
            <a:ext cx="1260043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✓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47472" y="3364992"/>
            <a:ext cx="2423160" cy="21031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392424"/>
            <a:ext cx="1017727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413662" y="3392424"/>
            <a:ext cx="1260043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SO-2024-1102 Delivered ✓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47472" y="3602736"/>
            <a:ext cx="24231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630168"/>
            <a:ext cx="1017727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Record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413662" y="3630168"/>
            <a:ext cx="1260043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Warranty Running ✓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47472" y="3840480"/>
            <a:ext cx="2423160" cy="210312"/>
          </a:xfrm>
          <a:prstGeom prst="rect">
            <a:avLst/>
          </a:prstGeom>
          <a:solidFill>
            <a:srgbClr val="F4F6F9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867912"/>
            <a:ext cx="1017727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Service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413662" y="3867912"/>
            <a:ext cx="1260043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250h / 3 months ✓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Annotations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17520" y="1188720"/>
            <a:ext cx="5852160" cy="27432"/>
          </a:xfrm>
          <a:prstGeom prst="rect">
            <a:avLst/>
          </a:prstGeom>
          <a:solidFill>
            <a:srgbClr val="D4DCE5"/>
          </a:solidFill>
          <a:ln w="12700">
            <a:solidFill>
              <a:srgbClr val="D4DC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17520" y="1307592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1307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46120" y="1280160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 PDI Status → Delivered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46120" y="1481328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 triggers NS PDI record status update to "Delivered". Sales Order updated to "Delivered". Asset record Delivery Date, Warranty Start, Customer Owner fields updated.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017520" y="1965960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46120" y="193852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PDI Certificate Generation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2139696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RESTlet calls NS Suitelet PDF renderer (BFO / FreeMarker template). Generates PDI Certificate PDF: all checklist results, photos, signatures, fail items, QA score. Stored in File Cabinet.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17520" y="2624328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259689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Distribution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46120" y="2798064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SuiteFlow sends PDF as email attachment to: Customer (Ahmed.AlRashid@alnoor.ae), Sales Rep, Workshop Manager, After Sales. NS Email record created for audit trail.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3282696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3282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46120" y="325526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Record Fully Activated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46120" y="34564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Asset record set to Active status. All fields populated: Owner, Delivery Date, Warranty dates, PDI Certificate URL, Machine Hours = 0h (reset at delivery).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017520" y="3941064"/>
            <a:ext cx="182880" cy="182880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9410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246120" y="39136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Sales Service Trigger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46120" y="411480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event creates NS Scheduled Task for first service reminder (250h / 3 months) and Annual PM. SuiteFlow sends calendar invite to Service Advisor and customer contact.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0"/>
            <a:ext cx="36576" cy="5143500"/>
          </a:xfrm>
          <a:prstGeom prst="rect">
            <a:avLst/>
          </a:prstGeom>
          <a:solidFill>
            <a:srgbClr val="152B3C"/>
          </a:solidFill>
          <a:ln w="12700">
            <a:solidFill>
              <a:srgbClr val="152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6576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ITBS  ·  DMS Mobile Capability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6035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ITBS for DMS?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859536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Oracle NetSuite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389888"/>
            <a:ext cx="182880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17904"/>
            <a:ext cx="201168" cy="201168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179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58952" y="151790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Screen Flows Delivered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8952" y="173736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T-App + PDI — Login to PDF. Every screen maps to a NS record or API call.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340864"/>
            <a:ext cx="201168" cy="201168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408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8952" y="234086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NetSuite — No Middleware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" y="256032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RESTlets + SuiteFlow + File Cabinet. No third-party integration layer required.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163824"/>
            <a:ext cx="201168" cy="201168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638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8952" y="316382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Warranty-Ready from Day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8952" y="33832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codes, OEM defect records, claim packaging — all wired into NetSuite.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986784"/>
            <a:ext cx="201168" cy="201168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86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952" y="398678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Offline-Capable Field App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8952" y="42062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zero-connectivity environments. Syncs on reconnect — no data lost.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502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65392" y="960120"/>
            <a:ext cx="201168" cy="201168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960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12280" y="96926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65392" y="1554480"/>
            <a:ext cx="201168" cy="201168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15544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12280" y="156362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Demo Build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65392" y="2148840"/>
            <a:ext cx="201168" cy="201168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21488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12280" y="21579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&amp; Timeline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65392" y="2743200"/>
            <a:ext cx="201168" cy="201168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812280" y="27523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Go-Live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37960" y="3520440"/>
            <a:ext cx="2468880" cy="50292"/>
          </a:xfrm>
          <a:prstGeom prst="rect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611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thussain@itelligencesys.com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3796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itelligencesys.com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2026-04-15T07:08:55Z</dcterms:created>
  <dcterms:modified xsi:type="dcterms:W3CDTF">2026-04-15T07:08:55Z</dcterms:modified>
</cp:coreProperties>
</file>